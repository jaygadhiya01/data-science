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ata"/>
      <p:regular r:id="rId17"/>
    </p:embeddedFont>
    <p:embeddedFont>
      <p:font typeface="Prata"/>
      <p:regular r:id="rId18"/>
    </p:embeddedFont>
    <p:embeddedFont>
      <p:font typeface="Manrope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0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Car Sales Performance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Comprehensive insights on sales performance, customer behaviour, dealer effectiveness, and regional distribution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116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1691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Analytical Scope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66902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presentation delivers a complete analytical view of car sales data, examining critical dimensions that drive business performance: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618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Year-on-year and monthly sales trends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0400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demographics and purchasing patterns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84620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Vehicle preferences across models, engines, and transmissions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5130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Dealer performance benchmarking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0935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Regional revenue distribution analysis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201691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Foundation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599521" y="26690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dataset encompasses comprehensive fields including: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323600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Vehicle specifications (model, engine, transmission, colour, price)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404110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profiles (gender, income levels)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448329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Dealer information (name, region, dealer number)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49254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 data (date, body style, sales price)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599521" y="5543550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391F13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6335" y="5895261"/>
            <a:ext cx="283488" cy="22681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36637" y="5827038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Strategic Goal: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Support data-driven decisions in inventory planning, customer targeting, dealer improvement, and sales strategy optimisation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9473"/>
            <a:ext cx="76167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Key Performance Indicators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75228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24K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807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Total Cars Sold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297442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unit volume demonstrating healthy market demand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77522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$672M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807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297442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Exceptional revenue performance driving business growth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77522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$28.09K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53563" y="3807023"/>
            <a:ext cx="28547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Average Selling Price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4297442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Mid-range market positioning with competitive pricing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77522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3K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8070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 Count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4297442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Diverse customer base with repeat purchase potential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641300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Overall performance metrics reveal a robust business with strong revenue generation at $672M. The average selling price of $28.09K positions the portfolio firmly in the mid-range market segment, appealing to a broad customer base of 3,000 unique buyers. Regional concentration presents both strengths and opportunities for geographical expansion.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387" y="516731"/>
            <a:ext cx="6687026" cy="586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Sales Performance Trajectory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387" y="1384935"/>
            <a:ext cx="938570" cy="13819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69599" y="1572578"/>
            <a:ext cx="2346603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2022 Performance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269599" y="1978462"/>
            <a:ext cx="6703814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reached approximately £300M, establishing a solid baseline for growth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387" y="2766893"/>
            <a:ext cx="938570" cy="13819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69599" y="2954536"/>
            <a:ext cx="2346603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Strong Growth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269599" y="3360420"/>
            <a:ext cx="6703814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Year-on-year increase of 23.7% demonstrates accelerating market momentum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387" y="4148852"/>
            <a:ext cx="938570" cy="13819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69599" y="4336494"/>
            <a:ext cx="2346603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2023 Achievement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7269599" y="4742378"/>
            <a:ext cx="6703814" cy="600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climbed to £371M, reflecting effective sales strategies and market expansion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143387" y="5812393"/>
            <a:ext cx="327183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Top-Performing Dealers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6143387" y="6614874"/>
            <a:ext cx="368605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Rabun Used Car Sales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143387" y="6980872"/>
            <a:ext cx="368605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Progressive Shippers Co.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143387" y="7346871"/>
            <a:ext cx="368605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U-Haul Co.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10294977" y="6614874"/>
            <a:ext cx="368605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Rac Car Help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0294977" y="6980872"/>
            <a:ext cx="3686056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Saab-Belle Dodge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4147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 Demographics &amp; Preferences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949523"/>
            <a:ext cx="170116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Gender Distribution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089196" y="2026801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52.89%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6200" y="1318022"/>
            <a:ext cx="1701165" cy="1701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78004" y="316087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Female Buyers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96835" y="3451384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12.57K customers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089196" y="4596765"/>
            <a:ext cx="139493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47.11%</a:t>
            </a:r>
            <a:endParaRPr lang="en-US" sz="2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200" y="3887986"/>
            <a:ext cx="1701165" cy="1701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78004" y="573083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Male Buyers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96835" y="6021348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11.34K customers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96835" y="6330315"/>
            <a:ext cx="678001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Female buyers represent a slight majority, indicating the importance of gender-inclusive marketing strategies and product positioning.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171" y="963692"/>
            <a:ext cx="6780014" cy="49858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6835" y="6965275"/>
            <a:ext cx="1769507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Body Style Popularity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96835" y="7404616"/>
            <a:ext cx="3927515" cy="141684"/>
          </a:xfrm>
          <a:prstGeom prst="roundRect">
            <a:avLst>
              <a:gd name="adj" fmla="val 12007"/>
            </a:avLst>
          </a:prstGeom>
          <a:solidFill>
            <a:srgbClr val="404245"/>
          </a:solidFill>
          <a:ln/>
        </p:spPr>
      </p:sp>
      <p:sp>
        <p:nvSpPr>
          <p:cNvPr id="16" name="Shape 11"/>
          <p:cNvSpPr/>
          <p:nvPr/>
        </p:nvSpPr>
        <p:spPr>
          <a:xfrm>
            <a:off x="396835" y="7404616"/>
            <a:ext cx="1007745" cy="141684"/>
          </a:xfrm>
          <a:prstGeom prst="roundRect">
            <a:avLst>
              <a:gd name="adj" fmla="val 12007"/>
            </a:avLst>
          </a:prstGeom>
          <a:solidFill>
            <a:srgbClr val="84482D"/>
          </a:solidFill>
          <a:ln/>
        </p:spPr>
      </p:sp>
      <p:sp>
        <p:nvSpPr>
          <p:cNvPr id="17" name="Text 12"/>
          <p:cNvSpPr/>
          <p:nvPr/>
        </p:nvSpPr>
        <p:spPr>
          <a:xfrm>
            <a:off x="4409361" y="7404616"/>
            <a:ext cx="505182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25.66%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96835" y="768798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SUV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96835" y="7933134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6,370 units sold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056227" y="7404616"/>
            <a:ext cx="3931801" cy="141684"/>
          </a:xfrm>
          <a:prstGeom prst="roundRect">
            <a:avLst>
              <a:gd name="adj" fmla="val 12007"/>
            </a:avLst>
          </a:prstGeom>
          <a:solidFill>
            <a:srgbClr val="404245"/>
          </a:solidFill>
          <a:ln/>
        </p:spPr>
      </p:sp>
      <p:sp>
        <p:nvSpPr>
          <p:cNvPr id="21" name="Shape 16"/>
          <p:cNvSpPr/>
          <p:nvPr/>
        </p:nvSpPr>
        <p:spPr>
          <a:xfrm>
            <a:off x="5056227" y="7404616"/>
            <a:ext cx="1007626" cy="141684"/>
          </a:xfrm>
          <a:prstGeom prst="roundRect">
            <a:avLst>
              <a:gd name="adj" fmla="val 12007"/>
            </a:avLst>
          </a:prstGeom>
          <a:solidFill>
            <a:srgbClr val="84482D"/>
          </a:solidFill>
          <a:ln/>
        </p:spPr>
      </p:sp>
      <p:sp>
        <p:nvSpPr>
          <p:cNvPr id="22" name="Text 17"/>
          <p:cNvSpPr/>
          <p:nvPr/>
        </p:nvSpPr>
        <p:spPr>
          <a:xfrm>
            <a:off x="9073039" y="7404616"/>
            <a:ext cx="501015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25.63%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056227" y="768798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Hatchback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056227" y="7933134"/>
            <a:ext cx="451782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6,130 units sold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9715738" y="7404616"/>
            <a:ext cx="4001810" cy="141684"/>
          </a:xfrm>
          <a:prstGeom prst="roundRect">
            <a:avLst>
              <a:gd name="adj" fmla="val 12007"/>
            </a:avLst>
          </a:prstGeom>
          <a:solidFill>
            <a:srgbClr val="404245"/>
          </a:solidFill>
          <a:ln/>
        </p:spPr>
      </p:sp>
      <p:sp>
        <p:nvSpPr>
          <p:cNvPr id="26" name="Shape 21"/>
          <p:cNvSpPr/>
          <p:nvPr/>
        </p:nvSpPr>
        <p:spPr>
          <a:xfrm>
            <a:off x="9715738" y="7404616"/>
            <a:ext cx="751046" cy="141684"/>
          </a:xfrm>
          <a:prstGeom prst="roundRect">
            <a:avLst>
              <a:gd name="adj" fmla="val 12007"/>
            </a:avLst>
          </a:prstGeom>
          <a:solidFill>
            <a:srgbClr val="84482D"/>
          </a:solidFill>
          <a:ln/>
        </p:spPr>
      </p:sp>
      <p:sp>
        <p:nvSpPr>
          <p:cNvPr id="27" name="Text 22"/>
          <p:cNvSpPr/>
          <p:nvPr/>
        </p:nvSpPr>
        <p:spPr>
          <a:xfrm>
            <a:off x="13802558" y="7404616"/>
            <a:ext cx="430887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18.77%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715738" y="768798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Saloon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715738" y="7933134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4,490 units sold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396835" y="8398073"/>
            <a:ext cx="3965496" cy="141684"/>
          </a:xfrm>
          <a:prstGeom prst="roundRect">
            <a:avLst>
              <a:gd name="adj" fmla="val 12007"/>
            </a:avLst>
          </a:prstGeom>
          <a:solidFill>
            <a:srgbClr val="404245"/>
          </a:solidFill>
          <a:ln/>
        </p:spPr>
      </p:sp>
      <p:sp>
        <p:nvSpPr>
          <p:cNvPr id="31" name="Shape 26"/>
          <p:cNvSpPr/>
          <p:nvPr/>
        </p:nvSpPr>
        <p:spPr>
          <a:xfrm>
            <a:off x="396835" y="8398073"/>
            <a:ext cx="657820" cy="141684"/>
          </a:xfrm>
          <a:prstGeom prst="roundRect">
            <a:avLst>
              <a:gd name="adj" fmla="val 12007"/>
            </a:avLst>
          </a:prstGeom>
          <a:solidFill>
            <a:srgbClr val="84482D"/>
          </a:solidFill>
          <a:ln/>
        </p:spPr>
      </p:sp>
      <p:sp>
        <p:nvSpPr>
          <p:cNvPr id="32" name="Text 27"/>
          <p:cNvSpPr/>
          <p:nvPr/>
        </p:nvSpPr>
        <p:spPr>
          <a:xfrm>
            <a:off x="4447342" y="8398073"/>
            <a:ext cx="467201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16.59%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396835" y="868144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Passenger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396835" y="8926592"/>
            <a:ext cx="4517708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3,950 units sold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5056227" y="8398073"/>
            <a:ext cx="3977759" cy="141684"/>
          </a:xfrm>
          <a:prstGeom prst="roundRect">
            <a:avLst>
              <a:gd name="adj" fmla="val 12007"/>
            </a:avLst>
          </a:prstGeom>
          <a:solidFill>
            <a:srgbClr val="404245"/>
          </a:solidFill>
          <a:ln/>
        </p:spPr>
      </p:sp>
      <p:sp>
        <p:nvSpPr>
          <p:cNvPr id="36" name="Shape 31"/>
          <p:cNvSpPr/>
          <p:nvPr/>
        </p:nvSpPr>
        <p:spPr>
          <a:xfrm>
            <a:off x="5056227" y="8398073"/>
            <a:ext cx="494348" cy="141684"/>
          </a:xfrm>
          <a:prstGeom prst="roundRect">
            <a:avLst>
              <a:gd name="adj" fmla="val 12007"/>
            </a:avLst>
          </a:prstGeom>
          <a:solidFill>
            <a:srgbClr val="84482D"/>
          </a:solidFill>
          <a:ln/>
        </p:spPr>
      </p:sp>
      <p:sp>
        <p:nvSpPr>
          <p:cNvPr id="37" name="Text 32"/>
          <p:cNvSpPr/>
          <p:nvPr/>
        </p:nvSpPr>
        <p:spPr>
          <a:xfrm>
            <a:off x="9118997" y="8398073"/>
            <a:ext cx="455057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12.43%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5056227" y="868144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Hardtop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5056227" y="8926592"/>
            <a:ext cx="4517827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2,970 units sold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769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5559" y="2899886"/>
            <a:ext cx="7626191" cy="59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Vehicle Specification Preferences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5559" y="3779282"/>
            <a:ext cx="4306253" cy="3930968"/>
          </a:xfrm>
          <a:prstGeom prst="roundRect">
            <a:avLst>
              <a:gd name="adj" fmla="val 726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855702" y="3969425"/>
            <a:ext cx="285238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Engine Type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55702" y="4440079"/>
            <a:ext cx="3925967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Overhead Camshaft: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52.59%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12,570 vehicles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55702" y="5162550"/>
            <a:ext cx="3925967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Double Overhead Camshaft: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47.41%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11,340 vehicles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55702" y="5885021"/>
            <a:ext cx="3925967" cy="91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Engine preferences show balanced distribution with slight favouring of standard overhead camshaft technology.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161955" y="3779282"/>
            <a:ext cx="4306372" cy="3930968"/>
          </a:xfrm>
          <a:prstGeom prst="roundRect">
            <a:avLst>
              <a:gd name="adj" fmla="val 726"/>
            </a:avLst>
          </a:prstGeom>
          <a:solidFill>
            <a:srgbClr val="404245"/>
          </a:solidFill>
          <a:ln/>
        </p:spPr>
      </p:sp>
      <p:sp>
        <p:nvSpPr>
          <p:cNvPr id="10" name="Text 7"/>
          <p:cNvSpPr/>
          <p:nvPr/>
        </p:nvSpPr>
        <p:spPr>
          <a:xfrm>
            <a:off x="5352098" y="3969425"/>
            <a:ext cx="2874169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Transmission Choice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352098" y="4440079"/>
            <a:ext cx="3926086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52.59%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12,570 vehicles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52098" y="5162550"/>
            <a:ext cx="3926086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Manual: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47.41%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11,340 vehicles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352098" y="5885021"/>
            <a:ext cx="3926086" cy="91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 transmission edges ahead, reflecting growing consumer preference for convenience and ease of use.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658469" y="3779282"/>
            <a:ext cx="4306372" cy="3930968"/>
          </a:xfrm>
          <a:prstGeom prst="roundRect">
            <a:avLst>
              <a:gd name="adj" fmla="val 726"/>
            </a:avLst>
          </a:prstGeom>
          <a:solidFill>
            <a:srgbClr val="404245"/>
          </a:solidFill>
          <a:ln/>
        </p:spPr>
      </p:sp>
      <p:sp>
        <p:nvSpPr>
          <p:cNvPr id="15" name="Text 12"/>
          <p:cNvSpPr/>
          <p:nvPr/>
        </p:nvSpPr>
        <p:spPr>
          <a:xfrm>
            <a:off x="9848612" y="3969425"/>
            <a:ext cx="285238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Colour Preference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848612" y="4440079"/>
            <a:ext cx="3926086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Pale White: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47.08%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11,260 vehicles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848612" y="5162550"/>
            <a:ext cx="3926086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28.87%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7,860 vehicles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848612" y="5885021"/>
            <a:ext cx="3926086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Black: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20.05%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4,790 vehicles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9848612" y="6607492"/>
            <a:ext cx="3926086" cy="912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Pale white dominates colour choices by a significant margin, followed by red and black options.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532" y="1222891"/>
            <a:ext cx="6925508" cy="56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Dealer &amp; Regional Performance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33532" y="2240994"/>
            <a:ext cx="3802142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Dealer Performance Analysis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33532" y="2761417"/>
            <a:ext cx="4549378" cy="115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generation demonstrates significant concentration amongst top-performing dealers. The top three dealers alone account for a substantial portion of total sales: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3532" y="4083010"/>
            <a:ext cx="4549378" cy="579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Rabun Used Car Sales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Leading revenue generator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3532" y="4725710"/>
            <a:ext cx="4549378" cy="579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Progressive Shippers Co.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Consistent high performer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3532" y="5368409"/>
            <a:ext cx="4549378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U-Haul Co.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Strong market presence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3532" y="5820966"/>
            <a:ext cx="4549378" cy="869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concentration pattern suggests opportunities to replicate successful practices across lower-performing locations.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32252" y="2240994"/>
            <a:ext cx="2715578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Regional Insights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632252" y="2784038"/>
            <a:ext cx="2885718" cy="2217658"/>
          </a:xfrm>
          <a:prstGeom prst="roundRect">
            <a:avLst>
              <a:gd name="adj" fmla="val 1225"/>
            </a:avLst>
          </a:prstGeom>
          <a:solidFill>
            <a:srgbClr val="391F1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27" y="3065264"/>
            <a:ext cx="226219" cy="1809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20420" y="3010257"/>
            <a:ext cx="2116574" cy="1738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top dealer region contributes the full £672M in revenue, indicating significant geographical concentration.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32252" y="5205293"/>
            <a:ext cx="2885718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Growth Opportunities: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632252" y="5657850"/>
            <a:ext cx="2885718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Enhanced inventory allocation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632252" y="6010870"/>
            <a:ext cx="2885718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Targeted regional promotions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632252" y="6363891"/>
            <a:ext cx="2885718" cy="579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Comprehensive dealer training programmes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94" y="408265"/>
            <a:ext cx="4186952" cy="43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Critical Business Insights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8394" y="1123355"/>
            <a:ext cx="13653611" cy="837248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3634" y="1138595"/>
            <a:ext cx="558165" cy="806768"/>
          </a:xfrm>
          <a:prstGeom prst="roundRect">
            <a:avLst>
              <a:gd name="adj" fmla="val 474"/>
            </a:avLst>
          </a:prstGeom>
          <a:solidFill>
            <a:srgbClr val="404245"/>
          </a:solidFill>
          <a:ln/>
        </p:spPr>
      </p:sp>
      <p:sp>
        <p:nvSpPr>
          <p:cNvPr id="5" name="Text 3"/>
          <p:cNvSpPr/>
          <p:nvPr/>
        </p:nvSpPr>
        <p:spPr>
          <a:xfrm>
            <a:off x="678061" y="1411129"/>
            <a:ext cx="209312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1341" y="1278136"/>
            <a:ext cx="1744266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Revenue Growth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01341" y="1579840"/>
            <a:ext cx="1278588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increased sharply from 2022 to 2023, demonstrating strong market momentum and effective sales execution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8394" y="2100143"/>
            <a:ext cx="13653611" cy="837248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3634" y="2115383"/>
            <a:ext cx="558165" cy="806768"/>
          </a:xfrm>
          <a:prstGeom prst="roundRect">
            <a:avLst>
              <a:gd name="adj" fmla="val 474"/>
            </a:avLst>
          </a:prstGeom>
          <a:solidFill>
            <a:srgbClr val="404245"/>
          </a:solidFill>
          <a:ln/>
        </p:spPr>
      </p:sp>
      <p:sp>
        <p:nvSpPr>
          <p:cNvPr id="10" name="Text 8"/>
          <p:cNvSpPr/>
          <p:nvPr/>
        </p:nvSpPr>
        <p:spPr>
          <a:xfrm>
            <a:off x="678061" y="2387918"/>
            <a:ext cx="209312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1341" y="2254925"/>
            <a:ext cx="1744266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Body Style Demand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01341" y="2556629"/>
            <a:ext cx="1278588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SUVs and hatchbacks dominate customer preferences with nearly equal market share at approximately 26% each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8394" y="3076932"/>
            <a:ext cx="13653611" cy="837248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3634" y="3092172"/>
            <a:ext cx="558165" cy="806768"/>
          </a:xfrm>
          <a:prstGeom prst="roundRect">
            <a:avLst>
              <a:gd name="adj" fmla="val 474"/>
            </a:avLst>
          </a:prstGeom>
          <a:solidFill>
            <a:srgbClr val="404245"/>
          </a:solidFill>
          <a:ln/>
        </p:spPr>
      </p:sp>
      <p:sp>
        <p:nvSpPr>
          <p:cNvPr id="15" name="Text 13"/>
          <p:cNvSpPr/>
          <p:nvPr/>
        </p:nvSpPr>
        <p:spPr>
          <a:xfrm>
            <a:off x="678061" y="3364706"/>
            <a:ext cx="209312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1341" y="3231713"/>
            <a:ext cx="1757124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Transmission Trends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01341" y="3533418"/>
            <a:ext cx="1278588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 transmission slightly preferred over manual, reflecting broader industry shifts towards convenience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8394" y="4053721"/>
            <a:ext cx="13653611" cy="837248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3634" y="4068961"/>
            <a:ext cx="558165" cy="806768"/>
          </a:xfrm>
          <a:prstGeom prst="roundRect">
            <a:avLst>
              <a:gd name="adj" fmla="val 474"/>
            </a:avLst>
          </a:prstGeom>
          <a:solidFill>
            <a:srgbClr val="404245"/>
          </a:solidFill>
          <a:ln/>
        </p:spPr>
      </p:sp>
      <p:sp>
        <p:nvSpPr>
          <p:cNvPr id="20" name="Text 18"/>
          <p:cNvSpPr/>
          <p:nvPr/>
        </p:nvSpPr>
        <p:spPr>
          <a:xfrm>
            <a:off x="678061" y="4341495"/>
            <a:ext cx="209312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1341" y="4208502"/>
            <a:ext cx="1744266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Colour Dominance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01341" y="4510207"/>
            <a:ext cx="1278588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Pale white emerges as the overwhelming favourite, capturing 47% of all vehicle sales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8394" y="5030510"/>
            <a:ext cx="13653611" cy="837248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3634" y="5045750"/>
            <a:ext cx="558165" cy="806768"/>
          </a:xfrm>
          <a:prstGeom prst="roundRect">
            <a:avLst>
              <a:gd name="adj" fmla="val 474"/>
            </a:avLst>
          </a:prstGeom>
          <a:solidFill>
            <a:srgbClr val="404245"/>
          </a:solidFill>
          <a:ln/>
        </p:spPr>
      </p:sp>
      <p:sp>
        <p:nvSpPr>
          <p:cNvPr id="25" name="Text 23"/>
          <p:cNvSpPr/>
          <p:nvPr/>
        </p:nvSpPr>
        <p:spPr>
          <a:xfrm>
            <a:off x="678061" y="5318284"/>
            <a:ext cx="209312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1341" y="5185291"/>
            <a:ext cx="1744266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Gender Dynamics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01341" y="5486995"/>
            <a:ext cx="1278588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Female customers drive a slightly larger share of purchases at 53%, highlighting the importance of inclusive marketing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8394" y="6007298"/>
            <a:ext cx="13653611" cy="837248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3634" y="6022538"/>
            <a:ext cx="558165" cy="806768"/>
          </a:xfrm>
          <a:prstGeom prst="roundRect">
            <a:avLst>
              <a:gd name="adj" fmla="val 474"/>
            </a:avLst>
          </a:prstGeom>
          <a:solidFill>
            <a:srgbClr val="404245"/>
          </a:solidFill>
          <a:ln/>
        </p:spPr>
      </p:sp>
      <p:sp>
        <p:nvSpPr>
          <p:cNvPr id="30" name="Text 28"/>
          <p:cNvSpPr/>
          <p:nvPr/>
        </p:nvSpPr>
        <p:spPr>
          <a:xfrm>
            <a:off x="678061" y="6295073"/>
            <a:ext cx="209312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01341" y="6162080"/>
            <a:ext cx="1822966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Dealer Concentration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201341" y="6463784"/>
            <a:ext cx="1278588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highly concentrated amongst top 10 dealers, presenting opportunities to strengthen mid-tier performers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8394" y="6984087"/>
            <a:ext cx="13653611" cy="837248"/>
          </a:xfrm>
          <a:prstGeom prst="roundRect">
            <a:avLst>
              <a:gd name="adj" fmla="val 2500"/>
            </a:avLst>
          </a:prstGeom>
          <a:solidFill>
            <a:srgbClr val="212326"/>
          </a:solidFill>
          <a:ln w="15240">
            <a:solidFill>
              <a:srgbClr val="595B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3634" y="6999327"/>
            <a:ext cx="558165" cy="806768"/>
          </a:xfrm>
          <a:prstGeom prst="roundRect">
            <a:avLst>
              <a:gd name="adj" fmla="val 474"/>
            </a:avLst>
          </a:prstGeom>
          <a:solidFill>
            <a:srgbClr val="404245"/>
          </a:solidFill>
          <a:ln/>
        </p:spPr>
      </p:sp>
      <p:sp>
        <p:nvSpPr>
          <p:cNvPr id="35" name="Text 33"/>
          <p:cNvSpPr/>
          <p:nvPr/>
        </p:nvSpPr>
        <p:spPr>
          <a:xfrm>
            <a:off x="678061" y="7271861"/>
            <a:ext cx="209312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01341" y="7138868"/>
            <a:ext cx="1744266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Regional Imbalance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201341" y="7440573"/>
            <a:ext cx="12785884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Uneven regional performance indicates significant growth potential in underserved geographical markets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625" y="484823"/>
            <a:ext cx="5988368" cy="55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Strategic Recommendations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16625" y="1387793"/>
            <a:ext cx="6610469" cy="2001560"/>
          </a:xfrm>
          <a:prstGeom prst="roundRect">
            <a:avLst>
              <a:gd name="adj" fmla="val 1321"/>
            </a:avLst>
          </a:prstGeom>
          <a:solidFill>
            <a:srgbClr val="404245"/>
          </a:solidFill>
          <a:ln/>
        </p:spPr>
      </p:sp>
      <p:sp>
        <p:nvSpPr>
          <p:cNvPr id="4" name="Shape 2"/>
          <p:cNvSpPr/>
          <p:nvPr/>
        </p:nvSpPr>
        <p:spPr>
          <a:xfrm>
            <a:off x="792718" y="1563886"/>
            <a:ext cx="528518" cy="528518"/>
          </a:xfrm>
          <a:prstGeom prst="roundRect">
            <a:avLst>
              <a:gd name="adj" fmla="val 17299478"/>
            </a:avLst>
          </a:prstGeom>
          <a:solidFill>
            <a:srgbClr val="8448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8093" y="1709261"/>
            <a:ext cx="237768" cy="237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2718" y="2268498"/>
            <a:ext cx="2498884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Optimise Inventory Mix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92718" y="2649379"/>
            <a:ext cx="625828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Increase stock levels of SUVs and hatchbacks to align with demonstrated customer demand patterns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403187" y="1387793"/>
            <a:ext cx="6610588" cy="2001560"/>
          </a:xfrm>
          <a:prstGeom prst="roundRect">
            <a:avLst>
              <a:gd name="adj" fmla="val 1321"/>
            </a:avLst>
          </a:prstGeom>
          <a:solidFill>
            <a:srgbClr val="404245"/>
          </a:solidFill>
          <a:ln/>
        </p:spPr>
      </p:sp>
      <p:sp>
        <p:nvSpPr>
          <p:cNvPr id="9" name="Shape 6"/>
          <p:cNvSpPr/>
          <p:nvPr/>
        </p:nvSpPr>
        <p:spPr>
          <a:xfrm>
            <a:off x="7579281" y="1563886"/>
            <a:ext cx="528518" cy="528518"/>
          </a:xfrm>
          <a:prstGeom prst="roundRect">
            <a:avLst>
              <a:gd name="adj" fmla="val 17299478"/>
            </a:avLst>
          </a:prstGeom>
          <a:solidFill>
            <a:srgbClr val="8448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4656" y="1709261"/>
            <a:ext cx="237768" cy="2377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79281" y="2268498"/>
            <a:ext cx="220253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Colour Strategy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579281" y="2649379"/>
            <a:ext cx="6258401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Prioritise pale white, red, and black variants in inventory planning to maximise conversion rates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16625" y="3565446"/>
            <a:ext cx="6610469" cy="2001560"/>
          </a:xfrm>
          <a:prstGeom prst="roundRect">
            <a:avLst>
              <a:gd name="adj" fmla="val 1321"/>
            </a:avLst>
          </a:prstGeom>
          <a:solidFill>
            <a:srgbClr val="404245"/>
          </a:solidFill>
          <a:ln/>
        </p:spPr>
      </p:sp>
      <p:sp>
        <p:nvSpPr>
          <p:cNvPr id="14" name="Shape 10"/>
          <p:cNvSpPr/>
          <p:nvPr/>
        </p:nvSpPr>
        <p:spPr>
          <a:xfrm>
            <a:off x="792718" y="3741539"/>
            <a:ext cx="528518" cy="528518"/>
          </a:xfrm>
          <a:prstGeom prst="roundRect">
            <a:avLst>
              <a:gd name="adj" fmla="val 17299478"/>
            </a:avLst>
          </a:prstGeom>
          <a:solidFill>
            <a:srgbClr val="8448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8093" y="3886914"/>
            <a:ext cx="237768" cy="2377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2718" y="4446151"/>
            <a:ext cx="220253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Regional Expansion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792718" y="4827032"/>
            <a:ext cx="625828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Enhance underperforming regions through targeted marketing campaigns and strategic dealer incentive programmes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403187" y="3565446"/>
            <a:ext cx="6610588" cy="2001560"/>
          </a:xfrm>
          <a:prstGeom prst="roundRect">
            <a:avLst>
              <a:gd name="adj" fmla="val 1321"/>
            </a:avLst>
          </a:prstGeom>
          <a:solidFill>
            <a:srgbClr val="404245"/>
          </a:solidFill>
          <a:ln/>
        </p:spPr>
      </p:sp>
      <p:sp>
        <p:nvSpPr>
          <p:cNvPr id="19" name="Shape 14"/>
          <p:cNvSpPr/>
          <p:nvPr/>
        </p:nvSpPr>
        <p:spPr>
          <a:xfrm>
            <a:off x="7579281" y="3741539"/>
            <a:ext cx="528518" cy="528518"/>
          </a:xfrm>
          <a:prstGeom prst="roundRect">
            <a:avLst>
              <a:gd name="adj" fmla="val 17299478"/>
            </a:avLst>
          </a:prstGeom>
          <a:solidFill>
            <a:srgbClr val="8448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24656" y="3886914"/>
            <a:ext cx="237768" cy="2377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79281" y="4446151"/>
            <a:ext cx="220253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Customer Targeting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579281" y="4827032"/>
            <a:ext cx="6258401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Develop personalised campaigns for female buyers and high-income segments to capitalise on key demographics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16625" y="5743099"/>
            <a:ext cx="6610469" cy="2001560"/>
          </a:xfrm>
          <a:prstGeom prst="roundRect">
            <a:avLst>
              <a:gd name="adj" fmla="val 1321"/>
            </a:avLst>
          </a:prstGeom>
          <a:solidFill>
            <a:srgbClr val="404245"/>
          </a:solidFill>
          <a:ln/>
        </p:spPr>
      </p:sp>
      <p:sp>
        <p:nvSpPr>
          <p:cNvPr id="24" name="Shape 18"/>
          <p:cNvSpPr/>
          <p:nvPr/>
        </p:nvSpPr>
        <p:spPr>
          <a:xfrm>
            <a:off x="792718" y="5919192"/>
            <a:ext cx="528518" cy="528518"/>
          </a:xfrm>
          <a:prstGeom prst="roundRect">
            <a:avLst>
              <a:gd name="adj" fmla="val 17299478"/>
            </a:avLst>
          </a:prstGeom>
          <a:solidFill>
            <a:srgbClr val="84482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8093" y="6064568"/>
            <a:ext cx="237768" cy="2377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92718" y="6623804"/>
            <a:ext cx="220253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Dealer Support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792718" y="7004685"/>
            <a:ext cx="6258282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 high-performing dealers with additional inventory allocation to maximise revenue generation capacity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7403187" y="5743099"/>
            <a:ext cx="6610588" cy="2001560"/>
          </a:xfrm>
          <a:prstGeom prst="roundRect">
            <a:avLst>
              <a:gd name="adj" fmla="val 1321"/>
            </a:avLst>
          </a:prstGeom>
          <a:solidFill>
            <a:srgbClr val="404245"/>
          </a:solidFill>
          <a:ln/>
        </p:spPr>
      </p:sp>
      <p:sp>
        <p:nvSpPr>
          <p:cNvPr id="29" name="Shape 22"/>
          <p:cNvSpPr/>
          <p:nvPr/>
        </p:nvSpPr>
        <p:spPr>
          <a:xfrm>
            <a:off x="7579281" y="5919192"/>
            <a:ext cx="528518" cy="528518"/>
          </a:xfrm>
          <a:prstGeom prst="roundRect">
            <a:avLst>
              <a:gd name="adj" fmla="val 17299478"/>
            </a:avLst>
          </a:prstGeom>
          <a:solidFill>
            <a:srgbClr val="84482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24656" y="6064568"/>
            <a:ext cx="237768" cy="2377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79281" y="6623804"/>
            <a:ext cx="2202537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Transmission Focus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7579281" y="7004685"/>
            <a:ext cx="6258401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Emphasise automatic transmission vehicles in marketing materials as consumer preference continues to strengthen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6511" y="515779"/>
            <a:ext cx="5262205" cy="5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Summary &amp; Next Steps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6511" y="1570792"/>
            <a:ext cx="2813685" cy="351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Dashboard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6511" y="2109907"/>
            <a:ext cx="6429851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comprehensive analytical framework provides a complete 360° view of business performance, revealing clear patterns in customer behaviour, vehicle preferences, and dealer effectiveness.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6511" y="3178731"/>
            <a:ext cx="642985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insights generated support data-driven decision-making across multiple strategic areas: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6511" y="3947517"/>
            <a:ext cx="642985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Sales strategy optimisation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56511" y="4313158"/>
            <a:ext cx="642985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Inventory management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6511" y="4678799"/>
            <a:ext cx="642985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forecasting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6511" y="5044440"/>
            <a:ext cx="642985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segmentation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6511" y="5410081"/>
            <a:ext cx="642985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Dealer performance management</a:t>
            </a:r>
            <a:endParaRPr lang="en-US" sz="14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658" y="1594247"/>
            <a:ext cx="6429851" cy="402871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56511" y="6044922"/>
            <a:ext cx="4314111" cy="1726406"/>
          </a:xfrm>
          <a:prstGeom prst="roundRect">
            <a:avLst>
              <a:gd name="adj" fmla="val 1630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6894" y="6255306"/>
            <a:ext cx="234469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Strong Foundation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6894" y="6660833"/>
            <a:ext cx="389334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£672M revenue and consistent growth trends highlight a healthy business trajectory with significant momentum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158145" y="6044922"/>
            <a:ext cx="4314111" cy="1726406"/>
          </a:xfrm>
          <a:prstGeom prst="roundRect">
            <a:avLst>
              <a:gd name="adj" fmla="val 1630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68528" y="6255306"/>
            <a:ext cx="234469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Clear Direction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68528" y="6660833"/>
            <a:ext cx="389334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Data-driven insights provide actionable pathways for continued growth and market expansion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9659779" y="6044922"/>
            <a:ext cx="4314111" cy="1726406"/>
          </a:xfrm>
          <a:prstGeom prst="roundRect">
            <a:avLst>
              <a:gd name="adj" fmla="val 1630"/>
            </a:avLst>
          </a:prstGeom>
          <a:solidFill>
            <a:srgbClr val="212326"/>
          </a:solidFill>
          <a:ln w="22860">
            <a:solidFill>
              <a:srgbClr val="595B5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0162" y="6255306"/>
            <a:ext cx="234469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Future Opportunity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870162" y="6660833"/>
            <a:ext cx="389334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Untapped potential in regional markets and mid-tier dealers offers substantial upside for strategic investment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2025-12-07T16:14:51Z</dcterms:created>
  <dcterms:modified xsi:type="dcterms:W3CDTF">2025-12-07T16:14:51Z</dcterms:modified>
</cp:coreProperties>
</file>